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Geist" panose="020B0604020202020204" charset="0"/>
      <p:regular r:id="rId18"/>
    </p:embeddedFont>
    <p:embeddedFont>
      <p:font typeface="Geist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D Al Amin" initials="MA" lastIdx="1" clrIdx="0">
    <p:extLst>
      <p:ext uri="{19B8F6BF-5375-455C-9EA6-DF929625EA0E}">
        <p15:presenceInfo xmlns:p15="http://schemas.microsoft.com/office/powerpoint/2012/main" userId="f41ba7a6c386a35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10T22:34:30.333" idx="1">
    <p:pos x="10" y="10"/>
    <p:text/>
    <p:extLst>
      <p:ext uri="{C676402C-5697-4E1C-873F-D02D1690AC5C}">
        <p15:threadingInfo xmlns:p15="http://schemas.microsoft.com/office/powerpoint/2012/main" timeZoneBias="-3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301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2007"/>
            <a:ext cx="8151763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Smart Vending Machine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55054"/>
            <a:ext cx="81517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00" b="1" kern="0" spc="-1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 Embedded System Based Automated Product Dispensing System</a:t>
            </a:r>
            <a:endParaRPr lang="en-US" sz="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070" y="702320"/>
            <a:ext cx="5497860" cy="2455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4297" y="1689549"/>
            <a:ext cx="1002663" cy="715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Vending System Flow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49635" y="2385393"/>
            <a:ext cx="1491639" cy="23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Arduino Control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49636" y="2766304"/>
            <a:ext cx="1491639" cy="27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Processes selection and logic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071265" y="2367801"/>
            <a:ext cx="1491639" cy="476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Servo Dispensing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108400" y="2654536"/>
            <a:ext cx="1491639" cy="27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Mechanism releases selected item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743888" y="849701"/>
            <a:ext cx="1532397" cy="23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Keypad Input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799429" y="1128322"/>
            <a:ext cx="1532397" cy="27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selects product code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669584" y="5070053"/>
            <a:ext cx="1911548" cy="120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Theme</a:t>
            </a:r>
            <a:endParaRPr lang="en-US" sz="450" dirty="0"/>
          </a:p>
          <a:p>
            <a:pPr marL="0" indent="0" algn="l">
              <a:lnSpc>
                <a:spcPct val="81000"/>
              </a:lnSpc>
              <a:buNone/>
            </a:pPr>
            <a:r>
              <a:rPr lang="en-US" sz="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Embedded Systems</a:t>
            </a:r>
            <a:endParaRPr lang="en-US" sz="4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765EEE-B974-AEE6-C9C6-966157C85166}"/>
              </a:ext>
            </a:extLst>
          </p:cNvPr>
          <p:cNvSpPr txBox="1"/>
          <p:nvPr/>
        </p:nvSpPr>
        <p:spPr>
          <a:xfrm>
            <a:off x="115147" y="3300065"/>
            <a:ext cx="76267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Team member:</a:t>
            </a:r>
          </a:p>
          <a:p>
            <a:r>
              <a:rPr lang="en-US" dirty="0">
                <a:solidFill>
                  <a:schemeClr val="bg2"/>
                </a:solidFill>
              </a:rPr>
              <a:t>                       1.AB </a:t>
            </a:r>
            <a:r>
              <a:rPr lang="en-US" noProof="1">
                <a:solidFill>
                  <a:schemeClr val="bg2"/>
                </a:solidFill>
              </a:rPr>
              <a:t>Siddik</a:t>
            </a:r>
            <a:r>
              <a:rPr lang="en-US" dirty="0">
                <a:solidFill>
                  <a:schemeClr val="bg2"/>
                </a:solidFill>
              </a:rPr>
              <a:t>(EEE)</a:t>
            </a:r>
          </a:p>
          <a:p>
            <a:r>
              <a:rPr lang="en-US" dirty="0">
                <a:solidFill>
                  <a:schemeClr val="bg2"/>
                </a:solidFill>
              </a:rPr>
              <a:t>                       2.Arifa(CSE)</a:t>
            </a:r>
          </a:p>
          <a:p>
            <a:r>
              <a:rPr lang="en-US" dirty="0">
                <a:solidFill>
                  <a:schemeClr val="bg2"/>
                </a:solidFill>
              </a:rPr>
              <a:t>                       3.Al Amin(CSE)</a:t>
            </a:r>
          </a:p>
          <a:p>
            <a:r>
              <a:rPr lang="en-US" dirty="0">
                <a:solidFill>
                  <a:schemeClr val="bg2"/>
                </a:solidFill>
              </a:rPr>
              <a:t>                       4.Santa(EEE)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9214"/>
            <a:ext cx="8151763" cy="321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Introduction &amp; Problem Statement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24979" y="818555"/>
            <a:ext cx="4097610" cy="3945657"/>
          </a:xfrm>
          <a:prstGeom prst="roundRect">
            <a:avLst>
              <a:gd name="adj" fmla="val 1804"/>
            </a:avLst>
          </a:prstGeom>
          <a:solidFill>
            <a:srgbClr val="001F3F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23801" y="897285"/>
            <a:ext cx="3899967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is a Smart Vending Machine?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3801" y="1136600"/>
            <a:ext cx="3899967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automated system that provides a product after a user makes a selection — no human operator required. Our prototype integrates embedded hardware components to achieve fully automated dispensing with real-time feedback and safety detection.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23801" y="1561579"/>
            <a:ext cx="3899967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Core Hardware Components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23801" y="1800895"/>
            <a:ext cx="3899967" cy="973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97000"/>
              </a:lnSpc>
              <a:buSzPct val="100000"/>
              <a:buChar char="•"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Arduino microcontroller — main system controller</a:t>
            </a:r>
            <a:endParaRPr lang="en-US" sz="750" dirty="0"/>
          </a:p>
          <a:p>
            <a:pPr marL="152400" indent="-152400" algn="l">
              <a:lnSpc>
                <a:spcPct val="97000"/>
              </a:lnSpc>
              <a:buSzPct val="100000"/>
              <a:buChar char="•"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2×3 keypad — product selection input</a:t>
            </a:r>
            <a:endParaRPr lang="en-US" sz="750" dirty="0"/>
          </a:p>
          <a:p>
            <a:pPr marL="152400" indent="-152400" algn="l">
              <a:lnSpc>
                <a:spcPct val="97000"/>
              </a:lnSpc>
              <a:buSzPct val="100000"/>
              <a:buChar char="•"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16×2 I2C LCD display — system status output</a:t>
            </a:r>
            <a:endParaRPr lang="en-US" sz="750" dirty="0"/>
          </a:p>
          <a:p>
            <a:pPr marL="152400" indent="-152400" algn="l">
              <a:lnSpc>
                <a:spcPct val="97000"/>
              </a:lnSpc>
              <a:buSzPct val="100000"/>
              <a:buChar char="•"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Six 360° continuous-rotation servo motors</a:t>
            </a:r>
            <a:endParaRPr lang="en-US" sz="750" dirty="0"/>
          </a:p>
          <a:p>
            <a:pPr marL="152400" indent="-152400" algn="l">
              <a:lnSpc>
                <a:spcPct val="97000"/>
              </a:lnSpc>
              <a:buSzPct val="100000"/>
              <a:buChar char="•"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Mechanical dispensing mechanism</a:t>
            </a:r>
            <a:endParaRPr lang="en-US" sz="750" dirty="0"/>
          </a:p>
          <a:p>
            <a:pPr marL="152400" indent="-152400" algn="l">
              <a:lnSpc>
                <a:spcPct val="97000"/>
              </a:lnSpc>
              <a:buSzPct val="100000"/>
              <a:buChar char="•"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IR/obstacle sensor — product detection</a:t>
            </a:r>
            <a:endParaRPr lang="en-US" sz="750" dirty="0"/>
          </a:p>
          <a:p>
            <a:pPr marL="152400" indent="-152400" algn="l">
              <a:lnSpc>
                <a:spcPct val="97000"/>
              </a:lnSpc>
              <a:buSzPct val="100000"/>
              <a:buChar char="•"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Power supply — electrical distribution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97313" y="897285"/>
            <a:ext cx="3955331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0096C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97313" y="1136600"/>
            <a:ext cx="3955331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functional vending machine prototype must address five core engineering challenges simultaneously:</a:t>
            </a:r>
            <a:endParaRPr lang="en-US" sz="7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7313" y="1455986"/>
            <a:ext cx="3955331" cy="5809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67573" y="1569095"/>
            <a:ext cx="367196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Simple Selection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67573" y="1808411"/>
            <a:ext cx="3671962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selection must be simple and intuitive for any user without prior training.</a:t>
            </a:r>
            <a:endParaRPr lang="en-US" sz="7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7313" y="2115666"/>
            <a:ext cx="3955331" cy="5809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67573" y="2228776"/>
            <a:ext cx="367196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Automatic Dispensing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867573" y="2468091"/>
            <a:ext cx="3671962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selected product must dispense automatically upon keypad confirmation.</a:t>
            </a:r>
            <a:endParaRPr lang="en-US" sz="7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7313" y="2775347"/>
            <a:ext cx="3955331" cy="5809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67573" y="2888456"/>
            <a:ext cx="367196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Delivery Confirmation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867573" y="3127772"/>
            <a:ext cx="3671962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 must confirm the product reaches the collection area via sensor.</a:t>
            </a:r>
            <a:endParaRPr lang="en-US" sz="7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7313" y="3435028"/>
            <a:ext cx="3955331" cy="58095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67573" y="3548137"/>
            <a:ext cx="367196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Failure Detection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867573" y="3787453"/>
            <a:ext cx="3671962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Dispensing failure must be detected safely and reported to the user.</a:t>
            </a:r>
            <a:endParaRPr lang="en-US" sz="7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7313" y="4094708"/>
            <a:ext cx="3955331" cy="58095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67573" y="4207818"/>
            <a:ext cx="367196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Motor Safety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4867573" y="4447133"/>
            <a:ext cx="3671962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Motor must not run indefinitely — a 10-second timeout enforces safe shutdown.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8229"/>
            <a:ext cx="8151763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Objectives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96119" y="812304"/>
            <a:ext cx="8608963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Six clearly defined engineering objectives guide the design, implementation, and testing of the Smart Vending Machine prototype from hardware assembly through software integration.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003027"/>
            <a:ext cx="8151763" cy="5697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9571" y="1195313"/>
            <a:ext cx="142429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58230" y="1107504"/>
            <a:ext cx="758517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Functional Prototype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58230" y="1305371"/>
            <a:ext cx="7585174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a functional vending machine with </a:t>
            </a: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 product slots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each independently controlled by a dedicated servo motor and dispensing mechanism.</a:t>
            </a:r>
            <a:endParaRPr lang="en-US" sz="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45518"/>
            <a:ext cx="8151763" cy="5697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9571" y="1837804"/>
            <a:ext cx="142429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58230" y="1749996"/>
            <a:ext cx="758517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Keypad Interface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58230" y="1947863"/>
            <a:ext cx="7585174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Select products using a </a:t>
            </a: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2×3 keypad interface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(keys 1–6), providing a simple and intuitive user input method without additional hardware.</a:t>
            </a:r>
            <a:endParaRPr lang="en-US" sz="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88009"/>
            <a:ext cx="8151763" cy="5697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9571" y="2480295"/>
            <a:ext cx="142429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958230" y="2392487"/>
            <a:ext cx="758517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Servo Control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958230" y="2590354"/>
            <a:ext cx="7585174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Control </a:t>
            </a: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six 360° continuous-rotation servo motors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independently via PWM signals on dedicated Arduino digital pins.</a:t>
            </a:r>
            <a:endParaRPr lang="en-US" sz="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930500"/>
            <a:ext cx="8151763" cy="5697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571" y="3122786"/>
            <a:ext cx="142429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958230" y="3034978"/>
            <a:ext cx="758517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LCD Feedback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958230" y="3232845"/>
            <a:ext cx="7585174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Display real-time system status using a </a:t>
            </a: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16×2 I2C LCD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(address 0x27), including selection confirmation, dispensing status, and error messages.</a:t>
            </a:r>
            <a:endParaRPr lang="en-US" sz="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572991"/>
            <a:ext cx="8151763" cy="5697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9571" y="3765277"/>
            <a:ext cx="142429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958230" y="3677469"/>
            <a:ext cx="758517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Sonar Sensor Detection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958230" y="3875336"/>
            <a:ext cx="7585174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 successful product delivery using an </a:t>
            </a: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Sonar sensor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positioned at the collection area to confirm product arrival.</a:t>
            </a:r>
            <a:endParaRPr lang="en-US" sz="7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4215482"/>
            <a:ext cx="8151763" cy="5697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9571" y="4407768"/>
            <a:ext cx="142429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958230" y="4319960"/>
            <a:ext cx="758517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10-Second Timeout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958230" y="4517827"/>
            <a:ext cx="7585174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 a </a:t>
            </a:r>
            <a:r>
              <a:rPr lang="en-US" sz="700" b="1" dirty="0">
                <a:solidFill>
                  <a:srgbClr val="0096C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10-second timeout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detect dispensing failure, stop the servo automatically, and prevent indefinite motor operation.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5911"/>
            <a:ext cx="81517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0" spc="-3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Hardware Components &amp; Pin Configuration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890067"/>
            <a:ext cx="353824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Components Overview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1118369"/>
            <a:ext cx="3552527" cy="4859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581" y="1132656"/>
            <a:ext cx="341277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Arduino Microcontroller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21581" y="1365796"/>
            <a:ext cx="3412778" cy="22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Main system controller — executes all logic, reads keypad input, drives servo PWM signals, and communicates with LCD and sensor.</a:t>
            </a:r>
            <a:endParaRPr lang="en-US" sz="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1727150"/>
            <a:ext cx="3552527" cy="4859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581" y="1741438"/>
            <a:ext cx="341277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2×3 Matrix Keypad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21581" y="1974577"/>
            <a:ext cx="3412778" cy="22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selection input device. Two rows and three columns provide keys 1–6, each mapped to a unique servo motor.</a:t>
            </a:r>
            <a:endParaRPr lang="en-US" sz="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2335932"/>
            <a:ext cx="3552527" cy="4859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581" y="2350219"/>
            <a:ext cx="341277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16×2 I2C LCD (0x27)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621581" y="2583359"/>
            <a:ext cx="3412778" cy="22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Displays system status messages including selection confirmation, dispensing progress, success, and failure notifications.</a:t>
            </a:r>
            <a:endParaRPr lang="en-US" sz="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2944713"/>
            <a:ext cx="3552527" cy="4859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581" y="2959001"/>
            <a:ext cx="341277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Six 360° Continuous-Rotation Servos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621581" y="3192140"/>
            <a:ext cx="3412778" cy="22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servo independently drives one product slot's mechanical dispensing mechanism via PWM on a dedicated digital pin.</a:t>
            </a:r>
            <a:endParaRPr lang="en-US" sz="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3553495"/>
            <a:ext cx="3552527" cy="48599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1581" y="3567782"/>
            <a:ext cx="341277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Sonar Sensor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621581" y="3800921"/>
            <a:ext cx="3412778" cy="22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Positioned at the product collection area. Detects product arrival to trigger servo stop and success confirmation.</a:t>
            </a:r>
            <a:endParaRPr lang="en-US" sz="750" dirty="0"/>
          </a:p>
        </p:txBody>
      </p:sp>
      <p:sp>
        <p:nvSpPr>
          <p:cNvPr id="19" name="Text 12"/>
          <p:cNvSpPr/>
          <p:nvPr/>
        </p:nvSpPr>
        <p:spPr>
          <a:xfrm>
            <a:off x="4275460" y="890067"/>
            <a:ext cx="437711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19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Arduino Pin Assignment Table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4275460" y="1132656"/>
            <a:ext cx="4377110" cy="3045768"/>
          </a:xfrm>
          <a:prstGeom prst="roundRect">
            <a:avLst>
              <a:gd name="adj" fmla="val 133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4275460" y="1352252"/>
            <a:ext cx="4377110" cy="60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4275460" y="1569467"/>
            <a:ext cx="4377110" cy="60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3" name="Shape 16"/>
          <p:cNvSpPr/>
          <p:nvPr/>
        </p:nvSpPr>
        <p:spPr>
          <a:xfrm>
            <a:off x="4275460" y="1786682"/>
            <a:ext cx="4377110" cy="60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4" name="Shape 17"/>
          <p:cNvSpPr/>
          <p:nvPr/>
        </p:nvSpPr>
        <p:spPr>
          <a:xfrm>
            <a:off x="4275460" y="2003896"/>
            <a:ext cx="4377110" cy="60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4275460" y="2221111"/>
            <a:ext cx="4377110" cy="60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6" name="Shape 19"/>
          <p:cNvSpPr/>
          <p:nvPr/>
        </p:nvSpPr>
        <p:spPr>
          <a:xfrm>
            <a:off x="4275460" y="2438326"/>
            <a:ext cx="4377110" cy="60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4275460" y="2655540"/>
            <a:ext cx="4377110" cy="60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8" name="Shape 21"/>
          <p:cNvSpPr/>
          <p:nvPr/>
        </p:nvSpPr>
        <p:spPr>
          <a:xfrm>
            <a:off x="4275460" y="2872755"/>
            <a:ext cx="4377110" cy="60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4275460" y="3089970"/>
            <a:ext cx="4377110" cy="60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4275460" y="3307184"/>
            <a:ext cx="4377110" cy="60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1" name="Shape 24"/>
          <p:cNvSpPr/>
          <p:nvPr/>
        </p:nvSpPr>
        <p:spPr>
          <a:xfrm>
            <a:off x="4275460" y="3524399"/>
            <a:ext cx="4377110" cy="60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2" name="Shape 25"/>
          <p:cNvSpPr/>
          <p:nvPr/>
        </p:nvSpPr>
        <p:spPr>
          <a:xfrm>
            <a:off x="4275460" y="3741613"/>
            <a:ext cx="4377110" cy="60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3" name="Shape 26"/>
          <p:cNvSpPr/>
          <p:nvPr/>
        </p:nvSpPr>
        <p:spPr>
          <a:xfrm>
            <a:off x="4275460" y="3958828"/>
            <a:ext cx="4377110" cy="60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4" name="Shape 27"/>
          <p:cNvSpPr/>
          <p:nvPr/>
        </p:nvSpPr>
        <p:spPr>
          <a:xfrm>
            <a:off x="6027390" y="1132656"/>
            <a:ext cx="6057" cy="30457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5" name="Shape 28"/>
          <p:cNvSpPr/>
          <p:nvPr/>
        </p:nvSpPr>
        <p:spPr>
          <a:xfrm>
            <a:off x="7337599" y="1132656"/>
            <a:ext cx="6057" cy="30457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6" name="Shape 29"/>
          <p:cNvSpPr/>
          <p:nvPr/>
        </p:nvSpPr>
        <p:spPr>
          <a:xfrm>
            <a:off x="4280371" y="1137419"/>
            <a:ext cx="1747019" cy="214833"/>
          </a:xfrm>
          <a:custGeom>
            <a:avLst/>
            <a:gdLst/>
            <a:ahLst/>
            <a:cxnLst/>
            <a:rect l="l" t="t" r="r" b="b"/>
            <a:pathLst>
              <a:path w="1747019" h="214833">
                <a:moveTo>
                  <a:pt x="33919" y="0"/>
                </a:moveTo>
                <a:lnTo>
                  <a:pt x="1747019" y="0"/>
                </a:lnTo>
                <a:lnTo>
                  <a:pt x="1747019" y="214833"/>
                </a:lnTo>
                <a:lnTo>
                  <a:pt x="0" y="214833"/>
                </a:lnTo>
                <a:lnTo>
                  <a:pt x="0" y="33919"/>
                </a:lnTo>
                <a:arcTo wR="33919" hR="33919" stAng="10800000" swAng="5400000"/>
                <a:close/>
              </a:path>
            </a:pathLst>
          </a:custGeom>
          <a:solidFill>
            <a:srgbClr val="001F3F"/>
          </a:solidFill>
          <a:ln/>
        </p:spPr>
      </p:sp>
      <p:sp>
        <p:nvSpPr>
          <p:cNvPr id="37" name="Text 30"/>
          <p:cNvSpPr/>
          <p:nvPr/>
        </p:nvSpPr>
        <p:spPr>
          <a:xfrm>
            <a:off x="4377258" y="1187574"/>
            <a:ext cx="20080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Component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6027390" y="1137419"/>
            <a:ext cx="1310208" cy="214833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39" name="Text 32"/>
          <p:cNvSpPr/>
          <p:nvPr/>
        </p:nvSpPr>
        <p:spPr>
          <a:xfrm>
            <a:off x="6126659" y="1187574"/>
            <a:ext cx="1568872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Arduino Pin</a:t>
            </a:r>
            <a:endParaRPr lang="en-US" sz="750" dirty="0"/>
          </a:p>
        </p:txBody>
      </p:sp>
      <p:sp>
        <p:nvSpPr>
          <p:cNvPr id="40" name="Shape 33"/>
          <p:cNvSpPr/>
          <p:nvPr/>
        </p:nvSpPr>
        <p:spPr>
          <a:xfrm>
            <a:off x="7337599" y="1137419"/>
            <a:ext cx="1310208" cy="214833"/>
          </a:xfrm>
          <a:custGeom>
            <a:avLst/>
            <a:gdLst/>
            <a:ahLst/>
            <a:cxnLst/>
            <a:rect l="l" t="t" r="r" b="b"/>
            <a:pathLst>
              <a:path w="1310208" h="214833">
                <a:moveTo>
                  <a:pt x="0" y="0"/>
                </a:moveTo>
                <a:lnTo>
                  <a:pt x="1276289" y="0"/>
                </a:lnTo>
                <a:arcTo wR="33919" hR="33919" stAng="16200000" swAng="5400000"/>
                <a:lnTo>
                  <a:pt x="1310208" y="214833"/>
                </a:lnTo>
                <a:lnTo>
                  <a:pt x="0" y="21483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/>
        </p:spPr>
      </p:sp>
      <p:sp>
        <p:nvSpPr>
          <p:cNvPr id="41" name="Text 34"/>
          <p:cNvSpPr/>
          <p:nvPr/>
        </p:nvSpPr>
        <p:spPr>
          <a:xfrm>
            <a:off x="7436867" y="1187574"/>
            <a:ext cx="157125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Type</a:t>
            </a:r>
            <a:endParaRPr lang="en-US" sz="750" dirty="0"/>
          </a:p>
        </p:txBody>
      </p:sp>
      <p:sp>
        <p:nvSpPr>
          <p:cNvPr id="42" name="Text 35"/>
          <p:cNvSpPr/>
          <p:nvPr/>
        </p:nvSpPr>
        <p:spPr>
          <a:xfrm>
            <a:off x="4377258" y="1404789"/>
            <a:ext cx="20080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Keypad Row 1</a:t>
            </a:r>
            <a:endParaRPr lang="en-US" sz="750" dirty="0"/>
          </a:p>
        </p:txBody>
      </p:sp>
      <p:sp>
        <p:nvSpPr>
          <p:cNvPr id="43" name="Text 36"/>
          <p:cNvSpPr/>
          <p:nvPr/>
        </p:nvSpPr>
        <p:spPr>
          <a:xfrm>
            <a:off x="6126659" y="1404789"/>
            <a:ext cx="1568872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D13</a:t>
            </a:r>
            <a:endParaRPr lang="en-US" sz="750" dirty="0"/>
          </a:p>
        </p:txBody>
      </p:sp>
      <p:sp>
        <p:nvSpPr>
          <p:cNvPr id="44" name="Text 37"/>
          <p:cNvSpPr/>
          <p:nvPr/>
        </p:nvSpPr>
        <p:spPr>
          <a:xfrm>
            <a:off x="7436867" y="1404789"/>
            <a:ext cx="157125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Digital I/O</a:t>
            </a:r>
            <a:endParaRPr lang="en-US" sz="750" dirty="0"/>
          </a:p>
        </p:txBody>
      </p:sp>
      <p:sp>
        <p:nvSpPr>
          <p:cNvPr id="45" name="Text 38"/>
          <p:cNvSpPr/>
          <p:nvPr/>
        </p:nvSpPr>
        <p:spPr>
          <a:xfrm>
            <a:off x="4377258" y="1622003"/>
            <a:ext cx="20080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Keypad Row 2</a:t>
            </a:r>
            <a:endParaRPr lang="en-US" sz="750" dirty="0"/>
          </a:p>
        </p:txBody>
      </p:sp>
      <p:sp>
        <p:nvSpPr>
          <p:cNvPr id="46" name="Text 39"/>
          <p:cNvSpPr/>
          <p:nvPr/>
        </p:nvSpPr>
        <p:spPr>
          <a:xfrm>
            <a:off x="6126659" y="1622003"/>
            <a:ext cx="1568872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D12</a:t>
            </a:r>
            <a:endParaRPr lang="en-US" sz="750" dirty="0"/>
          </a:p>
        </p:txBody>
      </p:sp>
      <p:sp>
        <p:nvSpPr>
          <p:cNvPr id="47" name="Text 40"/>
          <p:cNvSpPr/>
          <p:nvPr/>
        </p:nvSpPr>
        <p:spPr>
          <a:xfrm>
            <a:off x="7436867" y="1622003"/>
            <a:ext cx="157125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Digital I/O</a:t>
            </a:r>
            <a:endParaRPr lang="en-US" sz="750" dirty="0"/>
          </a:p>
        </p:txBody>
      </p:sp>
      <p:sp>
        <p:nvSpPr>
          <p:cNvPr id="48" name="Text 41"/>
          <p:cNvSpPr/>
          <p:nvPr/>
        </p:nvSpPr>
        <p:spPr>
          <a:xfrm>
            <a:off x="4377258" y="1839218"/>
            <a:ext cx="20080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Keypad Column 1</a:t>
            </a:r>
            <a:endParaRPr lang="en-US" sz="750" dirty="0"/>
          </a:p>
        </p:txBody>
      </p:sp>
      <p:sp>
        <p:nvSpPr>
          <p:cNvPr id="49" name="Text 42"/>
          <p:cNvSpPr/>
          <p:nvPr/>
        </p:nvSpPr>
        <p:spPr>
          <a:xfrm>
            <a:off x="6126659" y="1839218"/>
            <a:ext cx="1568872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D2</a:t>
            </a:r>
            <a:endParaRPr lang="en-US" sz="750" dirty="0"/>
          </a:p>
        </p:txBody>
      </p:sp>
      <p:sp>
        <p:nvSpPr>
          <p:cNvPr id="50" name="Text 43"/>
          <p:cNvSpPr/>
          <p:nvPr/>
        </p:nvSpPr>
        <p:spPr>
          <a:xfrm>
            <a:off x="7436867" y="1839218"/>
            <a:ext cx="157125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Digital I/O</a:t>
            </a:r>
            <a:endParaRPr lang="en-US" sz="750" dirty="0"/>
          </a:p>
        </p:txBody>
      </p:sp>
      <p:sp>
        <p:nvSpPr>
          <p:cNvPr id="51" name="Text 44"/>
          <p:cNvSpPr/>
          <p:nvPr/>
        </p:nvSpPr>
        <p:spPr>
          <a:xfrm>
            <a:off x="4377258" y="2056433"/>
            <a:ext cx="20080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Keypad Column 2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6126659" y="2056433"/>
            <a:ext cx="1568872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D8</a:t>
            </a:r>
            <a:endParaRPr lang="en-US" sz="750" dirty="0"/>
          </a:p>
        </p:txBody>
      </p:sp>
      <p:sp>
        <p:nvSpPr>
          <p:cNvPr id="53" name="Text 46"/>
          <p:cNvSpPr/>
          <p:nvPr/>
        </p:nvSpPr>
        <p:spPr>
          <a:xfrm>
            <a:off x="7436867" y="2056433"/>
            <a:ext cx="157125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Digital I/O</a:t>
            </a:r>
            <a:endParaRPr lang="en-US" sz="750" dirty="0"/>
          </a:p>
        </p:txBody>
      </p:sp>
      <p:sp>
        <p:nvSpPr>
          <p:cNvPr id="54" name="Text 47"/>
          <p:cNvSpPr/>
          <p:nvPr/>
        </p:nvSpPr>
        <p:spPr>
          <a:xfrm>
            <a:off x="4377258" y="2273647"/>
            <a:ext cx="20080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Keypad Column 3</a:t>
            </a:r>
            <a:endParaRPr lang="en-US" sz="750" dirty="0"/>
          </a:p>
        </p:txBody>
      </p:sp>
      <p:sp>
        <p:nvSpPr>
          <p:cNvPr id="55" name="Text 48"/>
          <p:cNvSpPr/>
          <p:nvPr/>
        </p:nvSpPr>
        <p:spPr>
          <a:xfrm>
            <a:off x="6126659" y="2273647"/>
            <a:ext cx="1568872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D7</a:t>
            </a:r>
            <a:endParaRPr lang="en-US" sz="750" dirty="0"/>
          </a:p>
        </p:txBody>
      </p:sp>
      <p:sp>
        <p:nvSpPr>
          <p:cNvPr id="56" name="Text 49"/>
          <p:cNvSpPr/>
          <p:nvPr/>
        </p:nvSpPr>
        <p:spPr>
          <a:xfrm>
            <a:off x="7436867" y="2273647"/>
            <a:ext cx="157125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Digital I/O</a:t>
            </a:r>
            <a:endParaRPr lang="en-US" sz="750" dirty="0"/>
          </a:p>
        </p:txBody>
      </p:sp>
      <p:sp>
        <p:nvSpPr>
          <p:cNvPr id="57" name="Text 50"/>
          <p:cNvSpPr/>
          <p:nvPr/>
        </p:nvSpPr>
        <p:spPr>
          <a:xfrm>
            <a:off x="4377258" y="2490862"/>
            <a:ext cx="20080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0096C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Servo 1</a:t>
            </a:r>
            <a:endParaRPr lang="en-US" sz="750" dirty="0"/>
          </a:p>
        </p:txBody>
      </p:sp>
      <p:sp>
        <p:nvSpPr>
          <p:cNvPr id="58" name="Text 51"/>
          <p:cNvSpPr/>
          <p:nvPr/>
        </p:nvSpPr>
        <p:spPr>
          <a:xfrm>
            <a:off x="6126659" y="2490862"/>
            <a:ext cx="1568872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0096C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D3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7436867" y="2490862"/>
            <a:ext cx="157125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PWM Output</a:t>
            </a:r>
            <a:endParaRPr lang="en-US" sz="750" dirty="0"/>
          </a:p>
        </p:txBody>
      </p:sp>
      <p:sp>
        <p:nvSpPr>
          <p:cNvPr id="60" name="Text 53"/>
          <p:cNvSpPr/>
          <p:nvPr/>
        </p:nvSpPr>
        <p:spPr>
          <a:xfrm>
            <a:off x="4377258" y="2708077"/>
            <a:ext cx="20080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2</a:t>
            </a:r>
            <a:endParaRPr lang="en-US" sz="750" dirty="0"/>
          </a:p>
        </p:txBody>
      </p:sp>
      <p:sp>
        <p:nvSpPr>
          <p:cNvPr id="61" name="Text 54"/>
          <p:cNvSpPr/>
          <p:nvPr/>
        </p:nvSpPr>
        <p:spPr>
          <a:xfrm>
            <a:off x="6126659" y="2708077"/>
            <a:ext cx="1568872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D5</a:t>
            </a:r>
            <a:endParaRPr lang="en-US" sz="750" dirty="0"/>
          </a:p>
        </p:txBody>
      </p:sp>
      <p:sp>
        <p:nvSpPr>
          <p:cNvPr id="62" name="Text 55"/>
          <p:cNvSpPr/>
          <p:nvPr/>
        </p:nvSpPr>
        <p:spPr>
          <a:xfrm>
            <a:off x="7436867" y="2708077"/>
            <a:ext cx="157125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PWM Output</a:t>
            </a:r>
            <a:endParaRPr lang="en-US" sz="750" dirty="0"/>
          </a:p>
        </p:txBody>
      </p:sp>
      <p:sp>
        <p:nvSpPr>
          <p:cNvPr id="63" name="Text 56"/>
          <p:cNvSpPr/>
          <p:nvPr/>
        </p:nvSpPr>
        <p:spPr>
          <a:xfrm>
            <a:off x="4377258" y="2925291"/>
            <a:ext cx="20080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3</a:t>
            </a:r>
            <a:endParaRPr lang="en-US" sz="750" dirty="0"/>
          </a:p>
        </p:txBody>
      </p:sp>
      <p:sp>
        <p:nvSpPr>
          <p:cNvPr id="64" name="Text 57"/>
          <p:cNvSpPr/>
          <p:nvPr/>
        </p:nvSpPr>
        <p:spPr>
          <a:xfrm>
            <a:off x="6126659" y="2925291"/>
            <a:ext cx="1568872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D6</a:t>
            </a:r>
            <a:endParaRPr lang="en-US" sz="750" dirty="0"/>
          </a:p>
        </p:txBody>
      </p:sp>
      <p:sp>
        <p:nvSpPr>
          <p:cNvPr id="65" name="Text 58"/>
          <p:cNvSpPr/>
          <p:nvPr/>
        </p:nvSpPr>
        <p:spPr>
          <a:xfrm>
            <a:off x="7436867" y="2925291"/>
            <a:ext cx="157125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PWM Output</a:t>
            </a:r>
            <a:endParaRPr lang="en-US" sz="750" dirty="0"/>
          </a:p>
        </p:txBody>
      </p:sp>
      <p:sp>
        <p:nvSpPr>
          <p:cNvPr id="66" name="Text 59"/>
          <p:cNvSpPr/>
          <p:nvPr/>
        </p:nvSpPr>
        <p:spPr>
          <a:xfrm>
            <a:off x="4377258" y="3142506"/>
            <a:ext cx="20080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4</a:t>
            </a:r>
            <a:endParaRPr lang="en-US" sz="750" dirty="0"/>
          </a:p>
        </p:txBody>
      </p:sp>
      <p:sp>
        <p:nvSpPr>
          <p:cNvPr id="67" name="Text 60"/>
          <p:cNvSpPr/>
          <p:nvPr/>
        </p:nvSpPr>
        <p:spPr>
          <a:xfrm>
            <a:off x="6126659" y="3142506"/>
            <a:ext cx="1568872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D9</a:t>
            </a:r>
            <a:endParaRPr lang="en-US" sz="750" dirty="0"/>
          </a:p>
        </p:txBody>
      </p:sp>
      <p:sp>
        <p:nvSpPr>
          <p:cNvPr id="68" name="Text 61"/>
          <p:cNvSpPr/>
          <p:nvPr/>
        </p:nvSpPr>
        <p:spPr>
          <a:xfrm>
            <a:off x="7436867" y="3142506"/>
            <a:ext cx="157125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PWM Output</a:t>
            </a:r>
            <a:endParaRPr lang="en-US" sz="750" dirty="0"/>
          </a:p>
        </p:txBody>
      </p:sp>
      <p:sp>
        <p:nvSpPr>
          <p:cNvPr id="69" name="Text 62"/>
          <p:cNvSpPr/>
          <p:nvPr/>
        </p:nvSpPr>
        <p:spPr>
          <a:xfrm>
            <a:off x="4377258" y="3359721"/>
            <a:ext cx="20080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5</a:t>
            </a:r>
            <a:endParaRPr lang="en-US" sz="750" dirty="0"/>
          </a:p>
        </p:txBody>
      </p:sp>
      <p:sp>
        <p:nvSpPr>
          <p:cNvPr id="70" name="Text 63"/>
          <p:cNvSpPr/>
          <p:nvPr/>
        </p:nvSpPr>
        <p:spPr>
          <a:xfrm>
            <a:off x="6126659" y="3359721"/>
            <a:ext cx="1568872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D10</a:t>
            </a:r>
            <a:endParaRPr lang="en-US" sz="750" dirty="0"/>
          </a:p>
        </p:txBody>
      </p:sp>
      <p:sp>
        <p:nvSpPr>
          <p:cNvPr id="71" name="Text 64"/>
          <p:cNvSpPr/>
          <p:nvPr/>
        </p:nvSpPr>
        <p:spPr>
          <a:xfrm>
            <a:off x="7436867" y="3359721"/>
            <a:ext cx="157125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PWM Output</a:t>
            </a:r>
            <a:endParaRPr lang="en-US" sz="750" dirty="0"/>
          </a:p>
        </p:txBody>
      </p:sp>
      <p:sp>
        <p:nvSpPr>
          <p:cNvPr id="72" name="Text 65"/>
          <p:cNvSpPr/>
          <p:nvPr/>
        </p:nvSpPr>
        <p:spPr>
          <a:xfrm>
            <a:off x="4377258" y="3576935"/>
            <a:ext cx="20080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6</a:t>
            </a:r>
            <a:endParaRPr lang="en-US" sz="750" dirty="0"/>
          </a:p>
        </p:txBody>
      </p:sp>
      <p:sp>
        <p:nvSpPr>
          <p:cNvPr id="73" name="Text 66"/>
          <p:cNvSpPr/>
          <p:nvPr/>
        </p:nvSpPr>
        <p:spPr>
          <a:xfrm>
            <a:off x="6126659" y="3576935"/>
            <a:ext cx="1568872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D11</a:t>
            </a:r>
            <a:endParaRPr lang="en-US" sz="750" dirty="0"/>
          </a:p>
        </p:txBody>
      </p:sp>
      <p:sp>
        <p:nvSpPr>
          <p:cNvPr id="74" name="Text 67"/>
          <p:cNvSpPr/>
          <p:nvPr/>
        </p:nvSpPr>
        <p:spPr>
          <a:xfrm>
            <a:off x="7436867" y="3576935"/>
            <a:ext cx="157125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PWM Output</a:t>
            </a:r>
            <a:endParaRPr lang="en-US" sz="750" dirty="0"/>
          </a:p>
        </p:txBody>
      </p:sp>
      <p:sp>
        <p:nvSpPr>
          <p:cNvPr id="75" name="Text 68"/>
          <p:cNvSpPr/>
          <p:nvPr/>
        </p:nvSpPr>
        <p:spPr>
          <a:xfrm>
            <a:off x="4377258" y="3794150"/>
            <a:ext cx="20080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LCD SDA</a:t>
            </a:r>
            <a:endParaRPr lang="en-US" sz="750" dirty="0"/>
          </a:p>
        </p:txBody>
      </p:sp>
      <p:sp>
        <p:nvSpPr>
          <p:cNvPr id="76" name="Text 69"/>
          <p:cNvSpPr/>
          <p:nvPr/>
        </p:nvSpPr>
        <p:spPr>
          <a:xfrm>
            <a:off x="6126659" y="3794150"/>
            <a:ext cx="1568872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A4</a:t>
            </a:r>
            <a:endParaRPr lang="en-US" sz="750" dirty="0"/>
          </a:p>
        </p:txBody>
      </p:sp>
      <p:sp>
        <p:nvSpPr>
          <p:cNvPr id="77" name="Text 70"/>
          <p:cNvSpPr/>
          <p:nvPr/>
        </p:nvSpPr>
        <p:spPr>
          <a:xfrm>
            <a:off x="7436867" y="3794150"/>
            <a:ext cx="157125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I2C Data</a:t>
            </a:r>
            <a:endParaRPr lang="en-US" sz="750" dirty="0"/>
          </a:p>
        </p:txBody>
      </p:sp>
      <p:sp>
        <p:nvSpPr>
          <p:cNvPr id="78" name="Text 71"/>
          <p:cNvSpPr/>
          <p:nvPr/>
        </p:nvSpPr>
        <p:spPr>
          <a:xfrm>
            <a:off x="4377258" y="4011364"/>
            <a:ext cx="20080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LCD SCL</a:t>
            </a:r>
            <a:endParaRPr lang="en-US" sz="750" dirty="0"/>
          </a:p>
        </p:txBody>
      </p:sp>
      <p:sp>
        <p:nvSpPr>
          <p:cNvPr id="79" name="Text 72"/>
          <p:cNvSpPr/>
          <p:nvPr/>
        </p:nvSpPr>
        <p:spPr>
          <a:xfrm>
            <a:off x="6126659" y="4011364"/>
            <a:ext cx="1568872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A5</a:t>
            </a:r>
            <a:endParaRPr lang="en-US" sz="750" dirty="0"/>
          </a:p>
        </p:txBody>
      </p:sp>
      <p:sp>
        <p:nvSpPr>
          <p:cNvPr id="80" name="Text 73"/>
          <p:cNvSpPr/>
          <p:nvPr/>
        </p:nvSpPr>
        <p:spPr>
          <a:xfrm>
            <a:off x="7436867" y="4011364"/>
            <a:ext cx="157125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I2C Clock</a:t>
            </a:r>
            <a:endParaRPr lang="en-US" sz="750" dirty="0"/>
          </a:p>
        </p:txBody>
      </p:sp>
      <p:sp>
        <p:nvSpPr>
          <p:cNvPr id="81" name="Shape 74"/>
          <p:cNvSpPr/>
          <p:nvPr/>
        </p:nvSpPr>
        <p:spPr>
          <a:xfrm>
            <a:off x="4275460" y="4263554"/>
            <a:ext cx="4377110" cy="408831"/>
          </a:xfrm>
          <a:prstGeom prst="roundRect">
            <a:avLst>
              <a:gd name="adj" fmla="val 9956"/>
            </a:avLst>
          </a:prstGeom>
          <a:solidFill>
            <a:srgbClr val="002A80"/>
          </a:solidFill>
          <a:ln/>
        </p:spPr>
      </p:sp>
      <p:pic>
        <p:nvPicPr>
          <p:cNvPr id="8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347" y="4364310"/>
            <a:ext cx="121072" cy="96887"/>
          </a:xfrm>
          <a:prstGeom prst="rect">
            <a:avLst/>
          </a:prstGeom>
        </p:spPr>
      </p:pic>
      <p:sp>
        <p:nvSpPr>
          <p:cNvPr id="83" name="Text 75"/>
          <p:cNvSpPr/>
          <p:nvPr/>
        </p:nvSpPr>
        <p:spPr>
          <a:xfrm>
            <a:off x="4590306" y="4355827"/>
            <a:ext cx="3965377" cy="22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servo pins (D3, D5, D6, D9, D10, D11) are hardware PWM-capable pins on the Arduino, required for precise servo signal generation.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3959"/>
            <a:ext cx="8151763" cy="277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Architecture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96119" y="787524"/>
            <a:ext cx="3971851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kern="0" spc="-17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Control Flow — End to End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992014"/>
            <a:ext cx="170557" cy="1108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96119" y="1131615"/>
            <a:ext cx="3971851" cy="9525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193304"/>
            <a:ext cx="3971851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kern="0" spc="-1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User Input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96119" y="1390427"/>
            <a:ext cx="397185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presses a key (1–6) on the </a:t>
            </a: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2×3 keypad</a:t>
            </a: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select a product slot.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96119" y="1606451"/>
            <a:ext cx="170557" cy="1108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96119" y="1737494"/>
            <a:ext cx="3971851" cy="9525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0" name="Text 8"/>
          <p:cNvSpPr/>
          <p:nvPr/>
        </p:nvSpPr>
        <p:spPr>
          <a:xfrm>
            <a:off x="496119" y="1807741"/>
            <a:ext cx="3971851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kern="0" spc="-1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Arduino Processing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6119" y="2004864"/>
            <a:ext cx="3971851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</a:t>
            </a: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Arduino microcontroller</a:t>
            </a: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reads the keypad input, maps the key to the corresponding servo and pin number.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96119" y="2314426"/>
            <a:ext cx="170557" cy="1108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96119" y="2436986"/>
            <a:ext cx="3971851" cy="9525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2515716"/>
            <a:ext cx="3971851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kern="0" spc="-1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Servo Activation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6119" y="2712839"/>
            <a:ext cx="397185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</a:t>
            </a: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selected 360° servo</a:t>
            </a: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is activated via PWM signal, driving the mechanical dispensing mechanism.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96119" y="2928863"/>
            <a:ext cx="170557" cy="1108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96119" y="3042865"/>
            <a:ext cx="3971851" cy="9525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130153"/>
            <a:ext cx="3971851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kern="0" spc="-1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 Dispensing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6119" y="3327276"/>
            <a:ext cx="397185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</a:t>
            </a: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mechanical dispensing mechanism</a:t>
            </a: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moves the product toward the collection area.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96119" y="3543300"/>
            <a:ext cx="170557" cy="1108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05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96119" y="3648819"/>
            <a:ext cx="3971851" cy="9525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6119" y="3744590"/>
            <a:ext cx="3971851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kern="0" spc="-1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Sensor Detection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6119" y="3941713"/>
            <a:ext cx="397185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</a:t>
            </a: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IR/obstacle sensor</a:t>
            </a: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at the collection area detects product arrival and signals the Arduino.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96119" y="4157737"/>
            <a:ext cx="170557" cy="1108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06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96119" y="4254698"/>
            <a:ext cx="3971851" cy="9525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26" name="Text 24"/>
          <p:cNvSpPr/>
          <p:nvPr/>
        </p:nvSpPr>
        <p:spPr>
          <a:xfrm>
            <a:off x="496119" y="4359027"/>
            <a:ext cx="3971851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kern="0" spc="-1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LCD Confirmation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6119" y="4556150"/>
            <a:ext cx="397185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</a:t>
            </a: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16×2 I2C LCD</a:t>
            </a: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displays the final status — success or failure — to the user.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680793" y="787524"/>
            <a:ext cx="3971851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kern="0" spc="-17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 Selection Mapping (Key → Servo → Pin)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80793" y="1043136"/>
            <a:ext cx="3971851" cy="1222697"/>
          </a:xfrm>
          <a:prstGeom prst="roundRect">
            <a:avLst>
              <a:gd name="adj" fmla="val 292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5556" y="1047899"/>
            <a:ext cx="3962326" cy="1733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85705" y="1047899"/>
            <a:ext cx="1307529" cy="173310"/>
          </a:xfrm>
          <a:custGeom>
            <a:avLst/>
            <a:gdLst/>
            <a:ahLst/>
            <a:cxnLst/>
            <a:rect l="l" t="t" r="r" b="b"/>
            <a:pathLst>
              <a:path w="1307529" h="173310">
                <a:moveTo>
                  <a:pt x="29849" y="0"/>
                </a:moveTo>
                <a:lnTo>
                  <a:pt x="1307529" y="0"/>
                </a:lnTo>
                <a:lnTo>
                  <a:pt x="1307529" y="173310"/>
                </a:lnTo>
                <a:lnTo>
                  <a:pt x="0" y="173310"/>
                </a:lnTo>
                <a:lnTo>
                  <a:pt x="0" y="29849"/>
                </a:lnTo>
                <a:arcTo wR="29849" hR="29849" stAng="10800000" swAng="5400000"/>
                <a:close/>
              </a:path>
            </a:pathLst>
          </a:custGeom>
          <a:solidFill>
            <a:srgbClr val="001F3F"/>
          </a:solidFill>
          <a:ln/>
        </p:spPr>
      </p:sp>
      <p:sp>
        <p:nvSpPr>
          <p:cNvPr id="32" name="Text 30"/>
          <p:cNvSpPr/>
          <p:nvPr/>
        </p:nvSpPr>
        <p:spPr>
          <a:xfrm>
            <a:off x="4770983" y="1036662"/>
            <a:ext cx="159179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Keypad Key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993234" y="1047899"/>
            <a:ext cx="1347118" cy="17331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34" name="Text 32"/>
          <p:cNvSpPr/>
          <p:nvPr/>
        </p:nvSpPr>
        <p:spPr>
          <a:xfrm>
            <a:off x="6080894" y="1036662"/>
            <a:ext cx="1628998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Servo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7340352" y="1047899"/>
            <a:ext cx="1307529" cy="173310"/>
          </a:xfrm>
          <a:custGeom>
            <a:avLst/>
            <a:gdLst/>
            <a:ahLst/>
            <a:cxnLst/>
            <a:rect l="l" t="t" r="r" b="b"/>
            <a:pathLst>
              <a:path w="1307529" h="173310">
                <a:moveTo>
                  <a:pt x="0" y="0"/>
                </a:moveTo>
                <a:lnTo>
                  <a:pt x="1277681" y="0"/>
                </a:lnTo>
                <a:arcTo wR="29849" hR="29849" stAng="16200000" swAng="5400000"/>
                <a:lnTo>
                  <a:pt x="1307529" y="173310"/>
                </a:lnTo>
                <a:lnTo>
                  <a:pt x="0" y="173310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/>
        </p:spPr>
      </p:sp>
      <p:sp>
        <p:nvSpPr>
          <p:cNvPr id="36" name="Text 34"/>
          <p:cNvSpPr/>
          <p:nvPr/>
        </p:nvSpPr>
        <p:spPr>
          <a:xfrm>
            <a:off x="7428012" y="1036662"/>
            <a:ext cx="159179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Arduino Pin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685556" y="1221209"/>
            <a:ext cx="3962326" cy="1733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70983" y="1209973"/>
            <a:ext cx="159179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1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080894" y="1209973"/>
            <a:ext cx="1628998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1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428012" y="1209973"/>
            <a:ext cx="159179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0096C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D3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4685556" y="1394520"/>
            <a:ext cx="3962326" cy="1733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770983" y="1383283"/>
            <a:ext cx="159179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2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080894" y="1383283"/>
            <a:ext cx="1628998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2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7428012" y="1383283"/>
            <a:ext cx="159179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D5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685556" y="1567830"/>
            <a:ext cx="3962326" cy="1733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70983" y="1556593"/>
            <a:ext cx="159179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3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080894" y="1556593"/>
            <a:ext cx="1628998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3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7428012" y="1556593"/>
            <a:ext cx="159179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D6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4685556" y="1741140"/>
            <a:ext cx="3962326" cy="1733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770983" y="1729904"/>
            <a:ext cx="159179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080894" y="1729904"/>
            <a:ext cx="1628998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4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7428012" y="1729904"/>
            <a:ext cx="159179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D9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685556" y="1914451"/>
            <a:ext cx="3962326" cy="1733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770983" y="1903214"/>
            <a:ext cx="159179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5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6080894" y="1903214"/>
            <a:ext cx="1628998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5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7428012" y="1903214"/>
            <a:ext cx="159179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D10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4685556" y="2087761"/>
            <a:ext cx="3962326" cy="1733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4770983" y="2076524"/>
            <a:ext cx="159179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6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080894" y="2076524"/>
            <a:ext cx="1628998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6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7428012" y="2076524"/>
            <a:ext cx="159179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D11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680793" y="2280642"/>
            <a:ext cx="3971851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keypad key maps directly and exclusively to one servo motor on a dedicated PWM pin. Only the selected servo activates — all other five servos remain stationary during any dispensing cycle.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4680793" y="2584772"/>
            <a:ext cx="1956643" cy="480268"/>
          </a:xfrm>
          <a:prstGeom prst="roundRect">
            <a:avLst>
              <a:gd name="adj" fmla="val 7458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75597" y="2628454"/>
            <a:ext cx="1767036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kern="0" spc="-1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 Slots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775597" y="2825576"/>
            <a:ext cx="1767036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slots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6696001" y="2584772"/>
            <a:ext cx="1956643" cy="480268"/>
          </a:xfrm>
          <a:prstGeom prst="roundRect">
            <a:avLst>
              <a:gd name="adj" fmla="val 7458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90804" y="2628454"/>
            <a:ext cx="1767036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kern="0" spc="-1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 Servos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790804" y="2825576"/>
            <a:ext cx="1767036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360° motors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680793" y="3123605"/>
            <a:ext cx="1956643" cy="480268"/>
          </a:xfrm>
          <a:prstGeom prst="roundRect">
            <a:avLst>
              <a:gd name="adj" fmla="val 7458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75597" y="3167286"/>
            <a:ext cx="1767036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kern="0" spc="-1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 Sensor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775597" y="3364409"/>
            <a:ext cx="1767036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IR detection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6696001" y="3123605"/>
            <a:ext cx="1956643" cy="480268"/>
          </a:xfrm>
          <a:prstGeom prst="roundRect">
            <a:avLst>
              <a:gd name="adj" fmla="val 7458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90804" y="3167286"/>
            <a:ext cx="1767036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kern="0" spc="-1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 LCD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790804" y="3364409"/>
            <a:ext cx="1767036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I2C display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8991"/>
            <a:ext cx="8151763" cy="3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0" spc="-4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Current Prototype: Hardware Control Stage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016124"/>
            <a:ext cx="8151763" cy="604242"/>
          </a:xfrm>
          <a:prstGeom prst="roundRect">
            <a:avLst>
              <a:gd name="adj" fmla="val 8488"/>
            </a:avLst>
          </a:prstGeom>
          <a:solidFill>
            <a:srgbClr val="02234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58" y="1169566"/>
            <a:ext cx="152623" cy="1220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2820" y="1166813"/>
            <a:ext cx="763302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Current Stage: Keypad input + LCD feedback + six-servo control. Sonar sensor integration and 10-second timeout will be added in the next development phase.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96119" y="1800597"/>
            <a:ext cx="8151763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Current Control Process — 8-Step Sequence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96119" y="2179216"/>
            <a:ext cx="274737" cy="274737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1920" y="2197559"/>
            <a:ext cx="183133" cy="238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1034" y="2217316"/>
            <a:ext cx="7756847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Keypad Input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1034" y="2487811"/>
            <a:ext cx="77568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presses a key (1–6) on the 2×3 keypad to select a product slot.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2885629"/>
            <a:ext cx="274737" cy="274737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920" y="2903972"/>
            <a:ext cx="183133" cy="238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1034" y="2923729"/>
            <a:ext cx="7756847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Arduino Reads Selection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1034" y="3194224"/>
            <a:ext cx="77568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Arduino reads and identifies the selected product, mapping the key to the corresponding servo.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6119" y="3592041"/>
            <a:ext cx="274737" cy="274737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1920" y="3610384"/>
            <a:ext cx="183133" cy="238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91034" y="3630141"/>
            <a:ext cx="7756847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Servo Activation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91034" y="3900636"/>
            <a:ext cx="77568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corresponding servo (1–6) is activated on its designated PWM pin.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96119" y="4298454"/>
            <a:ext cx="274737" cy="274737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1920" y="4316797"/>
            <a:ext cx="183133" cy="238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91034" y="4336554"/>
            <a:ext cx="7756847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Rotation Command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1034" y="4607049"/>
            <a:ext cx="77568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rotates using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0313"/>
            <a:ext cx="8151763" cy="302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360° Servo Motor Dispensing Mechanism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837009"/>
            <a:ext cx="3962400" cy="15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8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Continuous-Rotation Servo Based Dispensing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057870"/>
            <a:ext cx="3962400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Unlike standard 180° positional servos, </a:t>
            </a: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360° continuous-rotation servo motors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spin indefinitely in either direction when commanded — making them ideal for driving mechanical dispensing mechanisms that require sustained rotational motion to push or move a product.</a:t>
            </a:r>
            <a:endParaRPr lang="en-US" sz="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453530"/>
            <a:ext cx="3962400" cy="7431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6761" y="1556072"/>
            <a:ext cx="3719215" cy="15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Independent Channel Control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36761" y="1776933"/>
            <a:ext cx="3719215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of the 6 product slots is assigned to one dedicated 360° continuous-rotation servo motor on its own PWM pin. Only the selected servo activates per dispensing cycle.</a:t>
            </a:r>
            <a:endParaRPr lang="en-US" sz="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266429"/>
            <a:ext cx="3962400" cy="6374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6761" y="2368972"/>
            <a:ext cx="3719215" cy="15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Mechanical Coupling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36761" y="2589833"/>
            <a:ext cx="3719215" cy="21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selected servo continuously rotates the mechanical dispensing mechanism, which moves or pushes the selected product toward the collection area below.</a:t>
            </a:r>
            <a:endParaRPr lang="en-US" sz="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73586"/>
            <a:ext cx="3962400" cy="6374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6761" y="3076129"/>
            <a:ext cx="3719215" cy="15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PWM Signal Control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636761" y="3296989"/>
            <a:ext cx="3719215" cy="21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Arduino controls each servo via a PWM signal. The write value determines direction and speed: 120 = forward, 90 = stop, 60 = reverse.</a:t>
            </a:r>
            <a:endParaRPr lang="en-US" sz="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680743"/>
            <a:ext cx="3962400" cy="63743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6761" y="3783285"/>
            <a:ext cx="3719215" cy="15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Timed vs. Sensor Stop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636761" y="4004146"/>
            <a:ext cx="3719215" cy="21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Current prototype: servo runs for </a:t>
            </a: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 seconds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(timed). Final system: servo stops on IR sensor detection or </a:t>
            </a: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10-second timeout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whichever occurs first.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4690244" y="837009"/>
            <a:ext cx="3962400" cy="15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8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Servo Command Specifications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690244" y="1066577"/>
            <a:ext cx="3962400" cy="1136675"/>
          </a:xfrm>
          <a:prstGeom prst="roundRect">
            <a:avLst>
              <a:gd name="adj" fmla="val 343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690244" y="1272629"/>
            <a:ext cx="3962400" cy="581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4690244" y="1582043"/>
            <a:ext cx="3962400" cy="581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4690244" y="1891457"/>
            <a:ext cx="3962400" cy="581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5880869" y="1066577"/>
            <a:ext cx="5815" cy="113667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6869088" y="1066577"/>
            <a:ext cx="5815" cy="113667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4695006" y="1071339"/>
            <a:ext cx="1185863" cy="201290"/>
          </a:xfrm>
          <a:custGeom>
            <a:avLst/>
            <a:gdLst/>
            <a:ahLst/>
            <a:cxnLst/>
            <a:rect l="l" t="t" r="r" b="b"/>
            <a:pathLst>
              <a:path w="1185863" h="201290">
                <a:moveTo>
                  <a:pt x="32562" y="0"/>
                </a:moveTo>
                <a:lnTo>
                  <a:pt x="1185863" y="0"/>
                </a:lnTo>
                <a:lnTo>
                  <a:pt x="1185863" y="201290"/>
                </a:lnTo>
                <a:lnTo>
                  <a:pt x="0" y="201290"/>
                </a:lnTo>
                <a:lnTo>
                  <a:pt x="0" y="32562"/>
                </a:lnTo>
                <a:arcTo wR="32562" hR="32562" stAng="10800000" swAng="5400000"/>
                <a:close/>
              </a:path>
            </a:pathLst>
          </a:custGeom>
          <a:solidFill>
            <a:srgbClr val="001F3F"/>
          </a:solidFill>
          <a:ln/>
        </p:spPr>
      </p:sp>
      <p:sp>
        <p:nvSpPr>
          <p:cNvPr id="25" name="Text 19"/>
          <p:cNvSpPr/>
          <p:nvPr/>
        </p:nvSpPr>
        <p:spPr>
          <a:xfrm>
            <a:off x="4788024" y="1117922"/>
            <a:ext cx="1454646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Command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5880869" y="1071339"/>
            <a:ext cx="988219" cy="20129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27" name="Text 21"/>
          <p:cNvSpPr/>
          <p:nvPr/>
        </p:nvSpPr>
        <p:spPr>
          <a:xfrm>
            <a:off x="5976268" y="1117922"/>
            <a:ext cx="1254621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Value</a:t>
            </a:r>
            <a:endParaRPr lang="en-US" sz="700" dirty="0"/>
          </a:p>
        </p:txBody>
      </p:sp>
      <p:sp>
        <p:nvSpPr>
          <p:cNvPr id="28" name="Shape 22"/>
          <p:cNvSpPr/>
          <p:nvPr/>
        </p:nvSpPr>
        <p:spPr>
          <a:xfrm>
            <a:off x="6869088" y="1071339"/>
            <a:ext cx="1778794" cy="201290"/>
          </a:xfrm>
          <a:custGeom>
            <a:avLst/>
            <a:gdLst/>
            <a:ahLst/>
            <a:cxnLst/>
            <a:rect l="l" t="t" r="r" b="b"/>
            <a:pathLst>
              <a:path w="1778794" h="201290">
                <a:moveTo>
                  <a:pt x="0" y="0"/>
                </a:moveTo>
                <a:lnTo>
                  <a:pt x="1746232" y="0"/>
                </a:lnTo>
                <a:arcTo wR="32562" hR="32562" stAng="16200000" swAng="5400000"/>
                <a:lnTo>
                  <a:pt x="1778794" y="201290"/>
                </a:lnTo>
                <a:lnTo>
                  <a:pt x="0" y="201290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/>
        </p:spPr>
      </p:sp>
      <p:sp>
        <p:nvSpPr>
          <p:cNvPr id="29" name="Text 23"/>
          <p:cNvSpPr/>
          <p:nvPr/>
        </p:nvSpPr>
        <p:spPr>
          <a:xfrm>
            <a:off x="6964487" y="1117922"/>
            <a:ext cx="2047577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Behavior</a:t>
            </a:r>
            <a:endParaRPr lang="en-US" sz="700" dirty="0"/>
          </a:p>
        </p:txBody>
      </p:sp>
      <p:sp>
        <p:nvSpPr>
          <p:cNvPr id="30" name="Text 24"/>
          <p:cNvSpPr/>
          <p:nvPr/>
        </p:nvSpPr>
        <p:spPr>
          <a:xfrm>
            <a:off x="4788024" y="1321594"/>
            <a:ext cx="1454646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servo.write(120)</a:t>
            </a:r>
            <a:endParaRPr lang="en-US" sz="700" dirty="0"/>
          </a:p>
        </p:txBody>
      </p:sp>
      <p:sp>
        <p:nvSpPr>
          <p:cNvPr id="31" name="Text 25"/>
          <p:cNvSpPr/>
          <p:nvPr/>
        </p:nvSpPr>
        <p:spPr>
          <a:xfrm>
            <a:off x="5976268" y="1321594"/>
            <a:ext cx="1254621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0096C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120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6964487" y="1321594"/>
            <a:ext cx="1590377" cy="21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Continuous forward rotation — dispensing active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4788024" y="1631007"/>
            <a:ext cx="1454646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servo.write(90)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5976268" y="1631007"/>
            <a:ext cx="1254621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0096C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90</a:t>
            </a:r>
            <a:endParaRPr lang="en-US" sz="700" dirty="0"/>
          </a:p>
        </p:txBody>
      </p:sp>
      <p:sp>
        <p:nvSpPr>
          <p:cNvPr id="35" name="Text 29"/>
          <p:cNvSpPr/>
          <p:nvPr/>
        </p:nvSpPr>
        <p:spPr>
          <a:xfrm>
            <a:off x="6964487" y="1631007"/>
            <a:ext cx="1590377" cy="21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Stop — neutral dead-band, no rotation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4788024" y="1940421"/>
            <a:ext cx="1454646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servo.write(60)</a:t>
            </a:r>
            <a:endParaRPr lang="en-US" sz="700" dirty="0"/>
          </a:p>
        </p:txBody>
      </p:sp>
      <p:sp>
        <p:nvSpPr>
          <p:cNvPr id="37" name="Text 31"/>
          <p:cNvSpPr/>
          <p:nvPr/>
        </p:nvSpPr>
        <p:spPr>
          <a:xfrm>
            <a:off x="5976268" y="1940421"/>
            <a:ext cx="1254621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0096C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60</a:t>
            </a:r>
            <a:endParaRPr lang="en-US" sz="700" dirty="0"/>
          </a:p>
        </p:txBody>
      </p:sp>
      <p:sp>
        <p:nvSpPr>
          <p:cNvPr id="38" name="Text 32"/>
          <p:cNvSpPr/>
          <p:nvPr/>
        </p:nvSpPr>
        <p:spPr>
          <a:xfrm>
            <a:off x="6964487" y="1940421"/>
            <a:ext cx="1590377" cy="21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Continuous reverse rotation — retract if needed</a:t>
            </a:r>
            <a:endParaRPr lang="en-US" sz="700" dirty="0"/>
          </a:p>
        </p:txBody>
      </p:sp>
      <p:sp>
        <p:nvSpPr>
          <p:cNvPr id="39" name="Text 33"/>
          <p:cNvSpPr/>
          <p:nvPr/>
        </p:nvSpPr>
        <p:spPr>
          <a:xfrm>
            <a:off x="4690244" y="2281684"/>
            <a:ext cx="3962400" cy="15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8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Mechanical Motion Path</a:t>
            </a:r>
            <a:endParaRPr lang="en-US" sz="9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244" y="2511251"/>
            <a:ext cx="3962400" cy="1813471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724277" y="3891214"/>
            <a:ext cx="743916" cy="149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kern="0" spc="-1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IR Sensor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6786740" y="3816695"/>
            <a:ext cx="743916" cy="298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kern="0" spc="-1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Collection Area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5854299" y="3816695"/>
            <a:ext cx="743915" cy="298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kern="0" spc="-1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Dispensing Mechanism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4901476" y="3891214"/>
            <a:ext cx="743915" cy="149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kern="0" spc="-1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 Slot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4690244" y="4403154"/>
            <a:ext cx="3962400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360° servo drives the mechanism continuously until the product clears the slot and reaches the collection area, where the IR sensor confirms arrival and triggers the stop command.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362"/>
            <a:ext cx="8151763" cy="258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Sensor-Based Product Detection &amp; Safety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496119" y="755452"/>
            <a:ext cx="8151763" cy="305619"/>
          </a:xfrm>
          <a:prstGeom prst="roundRect">
            <a:avLst>
              <a:gd name="adj" fmla="val 10921"/>
            </a:avLst>
          </a:prstGeom>
          <a:solidFill>
            <a:srgbClr val="4B3F0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18" y="826145"/>
            <a:ext cx="99268" cy="79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4187" y="826145"/>
            <a:ext cx="7814295" cy="169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MAXIMUM SENSOR DETECTION TIMEOUT: 10 SECONDS</a:t>
            </a:r>
            <a:r>
              <a:rPr lang="en-US" sz="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If the IR sensor does not detect the product within 10 seconds of servo activation, the Arduino automatically stops the servo to prevent motor damage and system lockup.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96119" y="1169194"/>
            <a:ext cx="3978994" cy="12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-16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Success Path — Normal Dispensing Cycle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96119" y="1349201"/>
            <a:ext cx="3978994" cy="169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</a:t>
            </a:r>
            <a:r>
              <a:rPr lang="en-US" sz="6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IR/obstacle sensor</a:t>
            </a: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is positioned at the </a:t>
            </a:r>
            <a:r>
              <a:rPr lang="en-US" sz="6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 collection area</a:t>
            </a: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confirm successful dispensing. When a product is detected, the system immediately stops the servo and confirms success.</a:t>
            </a:r>
            <a:endParaRPr lang="en-US" sz="600" dirty="0"/>
          </a:p>
        </p:txBody>
      </p:sp>
      <p:sp>
        <p:nvSpPr>
          <p:cNvPr id="8" name="Shape 5"/>
          <p:cNvSpPr/>
          <p:nvPr/>
        </p:nvSpPr>
        <p:spPr>
          <a:xfrm>
            <a:off x="496119" y="1575792"/>
            <a:ext cx="317822" cy="476771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5461" y="1736675"/>
            <a:ext cx="119137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64840" y="1655192"/>
            <a:ext cx="3610273" cy="12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Servo Starts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64840" y="1835200"/>
            <a:ext cx="3610273" cy="8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Selected servo begins dispensing — </a:t>
            </a:r>
            <a:r>
              <a:rPr lang="en-US" sz="6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servo.write(120)</a:t>
            </a: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activates continuous rotation.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496119" y="2103462"/>
            <a:ext cx="317822" cy="476771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5461" y="2264346"/>
            <a:ext cx="119137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64840" y="2182862"/>
            <a:ext cx="3610273" cy="12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 Moves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864840" y="2362870"/>
            <a:ext cx="3610273" cy="8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travels through the mechanical mechanism toward the collection area.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496119" y="2631132"/>
            <a:ext cx="317822" cy="476771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5461" y="2792016"/>
            <a:ext cx="119137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4840" y="2710532"/>
            <a:ext cx="3610273" cy="12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IR Detects Arrival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64840" y="2890540"/>
            <a:ext cx="3610273" cy="8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IR sensor at the collection area detects the product's physical presence.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496119" y="3158803"/>
            <a:ext cx="317822" cy="476771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5461" y="3319686"/>
            <a:ext cx="119137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4840" y="3238202"/>
            <a:ext cx="3610273" cy="12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Servo Stops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64840" y="3418210"/>
            <a:ext cx="3610273" cy="8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Arduino immediately issues </a:t>
            </a:r>
            <a:r>
              <a:rPr lang="en-US" sz="6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servo.write(90)</a:t>
            </a: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servo halts at neutral.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496119" y="3686473"/>
            <a:ext cx="317822" cy="476771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5461" y="3847356"/>
            <a:ext cx="119137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64840" y="3765872"/>
            <a:ext cx="3610273" cy="12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LCD Confirms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864840" y="3945880"/>
            <a:ext cx="3610273" cy="8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LCD displays: </a:t>
            </a:r>
            <a:r>
              <a:rPr lang="en-US" sz="6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"Product Dispensed Successfully"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496119" y="4214143"/>
            <a:ext cx="317822" cy="476771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5461" y="4375026"/>
            <a:ext cx="119137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64840" y="4293543"/>
            <a:ext cx="3610273" cy="12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Ready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864840" y="4473550"/>
            <a:ext cx="3610273" cy="8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 resets and is ready for the next product selection.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4673650" y="1169194"/>
            <a:ext cx="3978994" cy="12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-16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Failure Detection — 10-Second Timeout Path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673650" y="1349201"/>
            <a:ext cx="3978994" cy="169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If the product is </a:t>
            </a:r>
            <a:r>
              <a:rPr lang="en-US" sz="6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NOT detected</a:t>
            </a: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within the 10-second window, the system enters the failure detection path to protect the motor and notify the user.</a:t>
            </a:r>
            <a:endParaRPr lang="en-US" sz="600" dirty="0"/>
          </a:p>
        </p:txBody>
      </p:sp>
      <p:sp>
        <p:nvSpPr>
          <p:cNvPr id="34" name="Shape 31"/>
          <p:cNvSpPr/>
          <p:nvPr/>
        </p:nvSpPr>
        <p:spPr>
          <a:xfrm>
            <a:off x="4673650" y="1575792"/>
            <a:ext cx="317822" cy="476771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72992" y="1736675"/>
            <a:ext cx="119137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042371" y="1655192"/>
            <a:ext cx="3610273" cy="12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Timeout Elapses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5042371" y="1835200"/>
            <a:ext cx="3610273" cy="8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 seconds pass with no IR sensor detection — product did not reach collection area.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4673650" y="2103462"/>
            <a:ext cx="317822" cy="476771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72992" y="2264346"/>
            <a:ext cx="119137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042371" y="2182862"/>
            <a:ext cx="3610273" cy="12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 Stop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5042371" y="2362870"/>
            <a:ext cx="3610273" cy="8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Arduino automatically stops the servo — </a:t>
            </a:r>
            <a:r>
              <a:rPr lang="en-US" sz="6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servo.write(90)</a:t>
            </a: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preventing indefinite operation.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4673650" y="2631132"/>
            <a:ext cx="317822" cy="476771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72992" y="2792016"/>
            <a:ext cx="119137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042371" y="2710532"/>
            <a:ext cx="3610273" cy="12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Motor Protected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5042371" y="2890540"/>
            <a:ext cx="3610273" cy="8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Prevents indefinite motor operation, overheating, and mechanical damage to the dispensing system.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673650" y="3158803"/>
            <a:ext cx="317822" cy="476771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72992" y="3319686"/>
            <a:ext cx="119137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042371" y="3238202"/>
            <a:ext cx="3610273" cy="12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LCD Failure Alert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5042371" y="3418210"/>
            <a:ext cx="3610273" cy="8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LCD displays: </a:t>
            </a:r>
            <a:r>
              <a:rPr lang="en-US" sz="6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"Dispensing Failed"</a:t>
            </a: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user is notified of the error condition.</a:t>
            </a:r>
            <a:endParaRPr lang="en-US" sz="600" dirty="0"/>
          </a:p>
        </p:txBody>
      </p:sp>
      <p:sp>
        <p:nvSpPr>
          <p:cNvPr id="50" name="Shape 47"/>
          <p:cNvSpPr/>
          <p:nvPr/>
        </p:nvSpPr>
        <p:spPr>
          <a:xfrm>
            <a:off x="4673650" y="3686473"/>
            <a:ext cx="317822" cy="476771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72992" y="3847356"/>
            <a:ext cx="119137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042371" y="3765872"/>
            <a:ext cx="3610273" cy="12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Event Logged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5042371" y="3945880"/>
            <a:ext cx="3610273" cy="8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 logs the failure event via Serial Monitor for debugging and maintenance records.</a:t>
            </a:r>
            <a:endParaRPr lang="en-US" sz="600" dirty="0"/>
          </a:p>
        </p:txBody>
      </p:sp>
      <p:sp>
        <p:nvSpPr>
          <p:cNvPr id="54" name="Shape 51"/>
          <p:cNvSpPr/>
          <p:nvPr/>
        </p:nvSpPr>
        <p:spPr>
          <a:xfrm>
            <a:off x="4673650" y="4214143"/>
            <a:ext cx="317822" cy="476771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772992" y="4375026"/>
            <a:ext cx="119137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42371" y="4293543"/>
            <a:ext cx="3610273" cy="12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Ready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5042371" y="4473550"/>
            <a:ext cx="3610273" cy="8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 resets for next selection or operator troubleshooting intervention.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Control Flowchart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55054"/>
            <a:ext cx="81517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00" b="1" kern="0" spc="-1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Complete System Logic Flow — From User Input to Final State</a:t>
            </a:r>
            <a:endParaRPr lang="en-US" sz="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45" y="668945"/>
            <a:ext cx="8020050" cy="39727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86392" y="1067346"/>
            <a:ext cx="1834120" cy="238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Sonar Detection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486392" y="1370995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Was product detected?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486392" y="1988482"/>
            <a:ext cx="1834120" cy="238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Activate Dispense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86392" y="2292131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Start 360° servo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486392" y="2909618"/>
            <a:ext cx="1834120" cy="238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Check Availability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486392" y="3213267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 product available?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494543" y="3830754"/>
            <a:ext cx="1834120" cy="238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User Selects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494543" y="4134403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Choose product 1–6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96119" y="5072435"/>
            <a:ext cx="4000277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4719117" y="5269557"/>
            <a:ext cx="3866778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b="1" kern="0" spc="-1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 States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4719117" y="5401270"/>
            <a:ext cx="3866778" cy="60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Success (sensor detected) or Failure (timeout elapsed)</a:t>
            </a:r>
            <a:endParaRPr lang="en-US" sz="450" dirty="0"/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2BAEA9E6-0D72-391C-BFE0-CA28C0A3BBEA}"/>
              </a:ext>
            </a:extLst>
          </p:cNvPr>
          <p:cNvSpPr/>
          <p:nvPr/>
        </p:nvSpPr>
        <p:spPr>
          <a:xfrm>
            <a:off x="496119" y="4960516"/>
            <a:ext cx="4000277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4" name="Shape 12">
            <a:extLst>
              <a:ext uri="{FF2B5EF4-FFF2-40B4-BE49-F238E27FC236}">
                <a16:creationId xmlns:a16="http://schemas.microsoft.com/office/drawing/2014/main" id="{47A61062-159B-47BD-BA87-08F2C29C9937}"/>
              </a:ext>
            </a:extLst>
          </p:cNvPr>
          <p:cNvSpPr/>
          <p:nvPr/>
        </p:nvSpPr>
        <p:spPr>
          <a:xfrm>
            <a:off x="648519" y="5112916"/>
            <a:ext cx="4000277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781"/>
            <a:ext cx="8151763" cy="3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b="1" kern="0" spc="-4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Advantages, Limitations &amp; Future Improvements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921916"/>
            <a:ext cx="2525316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2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950" b="1" kern="0" spc="-2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Advantages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921" y="1167668"/>
            <a:ext cx="151135" cy="151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3615" y="1177751"/>
            <a:ext cx="2197819" cy="237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Fully automated product dispensing — no operator required</a:t>
            </a:r>
            <a:endParaRPr lang="en-US" sz="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921" y="1623603"/>
            <a:ext cx="151135" cy="1511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3615" y="1633686"/>
            <a:ext cx="2197819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Simple and intuitive 2×3 keypad interface</a:t>
            </a:r>
            <a:endParaRPr lang="en-US" sz="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921" y="2079538"/>
            <a:ext cx="151135" cy="1511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3615" y="2089621"/>
            <a:ext cx="2197819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Six independent 360° servo control channels</a:t>
            </a:r>
            <a:endParaRPr lang="en-US" sz="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921" y="2535473"/>
            <a:ext cx="151135" cy="1511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3615" y="2545556"/>
            <a:ext cx="2197819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16×2 LCD status feedback</a:t>
            </a:r>
            <a:endParaRPr lang="en-US" sz="7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921" y="2991408"/>
            <a:ext cx="151135" cy="15113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3615" y="3001491"/>
            <a:ext cx="2197819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IR sensor-based product delivery confirmation</a:t>
            </a:r>
            <a:endParaRPr lang="en-US" sz="7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921" y="3447343"/>
            <a:ext cx="151135" cy="15113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23615" y="3457426"/>
            <a:ext cx="2197819" cy="237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10-second safety timeout</a:t>
            </a: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prevents motor damage</a:t>
            </a:r>
            <a:endParaRPr lang="en-US" sz="7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921" y="3903278"/>
            <a:ext cx="151135" cy="15113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23615" y="3913361"/>
            <a:ext cx="2197819" cy="237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Low-cost prototype design using standard components</a:t>
            </a:r>
            <a:endParaRPr lang="en-US" sz="7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921" y="4359213"/>
            <a:ext cx="151135" cy="151135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823615" y="4369296"/>
            <a:ext cx="2197819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Modular architecture allows easy expansion</a:t>
            </a:r>
            <a:endParaRPr lang="en-US" sz="750" dirty="0"/>
          </a:p>
        </p:txBody>
      </p:sp>
      <p:sp>
        <p:nvSpPr>
          <p:cNvPr id="20" name="Text 10"/>
          <p:cNvSpPr/>
          <p:nvPr/>
        </p:nvSpPr>
        <p:spPr>
          <a:xfrm>
            <a:off x="3272061" y="921916"/>
            <a:ext cx="2609329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2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950" b="1" kern="0" spc="-20" dirty="0">
                <a:solidFill>
                  <a:srgbClr val="0096C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Limitations</a:t>
            </a:r>
            <a:endParaRPr lang="en-US" sz="9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9863" y="1167668"/>
            <a:ext cx="151135" cy="151135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3599557" y="1177751"/>
            <a:ext cx="2281833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Limited to 6 product slots in current design</a:t>
            </a:r>
            <a:endParaRPr lang="en-US" sz="75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9863" y="1623603"/>
            <a:ext cx="151135" cy="151135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3599557" y="1633686"/>
            <a:ext cx="2281833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Software still in prototype and testing stage</a:t>
            </a:r>
            <a:endParaRPr lang="en-US" sz="75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9863" y="2079538"/>
            <a:ext cx="151135" cy="151135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3599557" y="2089621"/>
            <a:ext cx="2281833" cy="237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payment system implemented in current version</a:t>
            </a:r>
            <a:endParaRPr lang="en-US" sz="75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9863" y="2535473"/>
            <a:ext cx="151135" cy="151135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3599557" y="2545556"/>
            <a:ext cx="2281833" cy="237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Mechanical mechanism requires further optimization</a:t>
            </a:r>
            <a:endParaRPr lang="en-US" sz="75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9863" y="2991408"/>
            <a:ext cx="151135" cy="151135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3599557" y="3001491"/>
            <a:ext cx="2281833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Sensor accuracy depends on product positioning</a:t>
            </a:r>
            <a:endParaRPr lang="en-US" sz="750" dirty="0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9863" y="3447343"/>
            <a:ext cx="151135" cy="151135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3599557" y="3457426"/>
            <a:ext cx="2281833" cy="237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timing may require calibration per product type</a:t>
            </a:r>
            <a:endParaRPr lang="en-US" sz="750" dirty="0"/>
          </a:p>
        </p:txBody>
      </p:sp>
      <p:sp>
        <p:nvSpPr>
          <p:cNvPr id="33" name="Text 17"/>
          <p:cNvSpPr/>
          <p:nvPr/>
        </p:nvSpPr>
        <p:spPr>
          <a:xfrm>
            <a:off x="6132016" y="921916"/>
            <a:ext cx="2525316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2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🔜</a:t>
            </a:r>
            <a:r>
              <a:rPr lang="en-US" sz="950" b="1" kern="0" spc="-2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Future Improvements</a:t>
            </a:r>
            <a:endParaRPr lang="en-US" sz="950" dirty="0"/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819" y="1167668"/>
            <a:ext cx="151135" cy="151135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6459513" y="1177751"/>
            <a:ext cx="2197819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RFID / NFC / QR code payment integration</a:t>
            </a:r>
            <a:endParaRPr lang="en-US" sz="750" dirty="0"/>
          </a:p>
        </p:txBody>
      </p:sp>
      <p:pic>
        <p:nvPicPr>
          <p:cNvPr id="36" name="Image 1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819" y="1623603"/>
            <a:ext cx="151135" cy="151135"/>
          </a:xfrm>
          <a:prstGeom prst="rect">
            <a:avLst/>
          </a:prstGeom>
        </p:spPr>
      </p:pic>
      <p:sp>
        <p:nvSpPr>
          <p:cNvPr id="37" name="Text 19"/>
          <p:cNvSpPr/>
          <p:nvPr/>
        </p:nvSpPr>
        <p:spPr>
          <a:xfrm>
            <a:off x="6459513" y="1633686"/>
            <a:ext cx="2197819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Mobile app or Bluetooth wireless control</a:t>
            </a:r>
            <a:endParaRPr lang="en-US" sz="750" dirty="0"/>
          </a:p>
        </p:txBody>
      </p:sp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819" y="2079538"/>
            <a:ext cx="151135" cy="151135"/>
          </a:xfrm>
          <a:prstGeom prst="rect">
            <a:avLst/>
          </a:prstGeom>
        </p:spPr>
      </p:pic>
      <p:sp>
        <p:nvSpPr>
          <p:cNvPr id="39" name="Text 20"/>
          <p:cNvSpPr/>
          <p:nvPr/>
        </p:nvSpPr>
        <p:spPr>
          <a:xfrm>
            <a:off x="6459513" y="2089621"/>
            <a:ext cx="2197819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Automatic stock monitoring system</a:t>
            </a:r>
            <a:endParaRPr lang="en-US" sz="750" dirty="0"/>
          </a:p>
        </p:txBody>
      </p:sp>
      <p:pic>
        <p:nvPicPr>
          <p:cNvPr id="40" name="Image 1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819" y="2535473"/>
            <a:ext cx="151135" cy="151135"/>
          </a:xfrm>
          <a:prstGeom prst="rect">
            <a:avLst/>
          </a:prstGeom>
        </p:spPr>
      </p:pic>
      <p:sp>
        <p:nvSpPr>
          <p:cNvPr id="41" name="Text 21"/>
          <p:cNvSpPr/>
          <p:nvPr/>
        </p:nvSpPr>
        <p:spPr>
          <a:xfrm>
            <a:off x="6459513" y="2545556"/>
            <a:ext cx="2197819" cy="237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IoT / cloud connectivity for remote management</a:t>
            </a:r>
            <a:endParaRPr lang="en-US" sz="750" dirty="0"/>
          </a:p>
        </p:txBody>
      </p:sp>
      <p:pic>
        <p:nvPicPr>
          <p:cNvPr id="42" name="Image 1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819" y="2991408"/>
            <a:ext cx="151135" cy="151135"/>
          </a:xfrm>
          <a:prstGeom prst="rect">
            <a:avLst/>
          </a:prstGeom>
        </p:spPr>
      </p:pic>
      <p:sp>
        <p:nvSpPr>
          <p:cNvPr id="43" name="Text 22"/>
          <p:cNvSpPr/>
          <p:nvPr/>
        </p:nvSpPr>
        <p:spPr>
          <a:xfrm>
            <a:off x="6459513" y="3001491"/>
            <a:ext cx="2197819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Touchscreen interface upgrade</a:t>
            </a:r>
            <a:endParaRPr lang="en-US" sz="750" dirty="0"/>
          </a:p>
        </p:txBody>
      </p:sp>
      <p:pic>
        <p:nvPicPr>
          <p:cNvPr id="44" name="Image 19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819" y="3447343"/>
            <a:ext cx="151135" cy="151135"/>
          </a:xfrm>
          <a:prstGeom prst="rect">
            <a:avLst/>
          </a:prstGeom>
        </p:spPr>
      </p:pic>
      <p:sp>
        <p:nvSpPr>
          <p:cNvPr id="45" name="Text 23"/>
          <p:cNvSpPr/>
          <p:nvPr/>
        </p:nvSpPr>
        <p:spPr>
          <a:xfrm>
            <a:off x="6459513" y="3457426"/>
            <a:ext cx="2197819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Expandable to 12+ product slots</a:t>
            </a:r>
            <a:endParaRPr lang="en-US" sz="750" dirty="0"/>
          </a:p>
        </p:txBody>
      </p:sp>
      <p:pic>
        <p:nvPicPr>
          <p:cNvPr id="46" name="Image 2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819" y="3903278"/>
            <a:ext cx="151135" cy="151135"/>
          </a:xfrm>
          <a:prstGeom prst="rect">
            <a:avLst/>
          </a:prstGeom>
        </p:spPr>
      </p:pic>
      <p:sp>
        <p:nvSpPr>
          <p:cNvPr id="47" name="Text 24"/>
          <p:cNvSpPr/>
          <p:nvPr/>
        </p:nvSpPr>
        <p:spPr>
          <a:xfrm>
            <a:off x="6459513" y="3913361"/>
            <a:ext cx="2197819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Multiple redundant sensors for reliability</a:t>
            </a:r>
            <a:endParaRPr lang="en-US" sz="750" dirty="0"/>
          </a:p>
        </p:txBody>
      </p:sp>
      <p:pic>
        <p:nvPicPr>
          <p:cNvPr id="48" name="Image 2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819" y="4359213"/>
            <a:ext cx="151135" cy="151135"/>
          </a:xfrm>
          <a:prstGeom prst="rect">
            <a:avLst/>
          </a:prstGeom>
        </p:spPr>
      </p:pic>
      <p:sp>
        <p:nvSpPr>
          <p:cNvPr id="49" name="Text 25"/>
          <p:cNvSpPr/>
          <p:nvPr/>
        </p:nvSpPr>
        <p:spPr>
          <a:xfrm>
            <a:off x="6459513" y="4369296"/>
            <a:ext cx="2197819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Advanced mechanical dispensing optimization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0656"/>
            <a:ext cx="8151763" cy="359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150" b="1" kern="0" spc="-4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975643"/>
            <a:ext cx="4783187" cy="17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22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Summary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6119" y="1253505"/>
            <a:ext cx="4783187" cy="1310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project demonstrates the integration of an </a:t>
            </a: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Arduino microcontroller, 2×3 keypad, six 360° continuous-rotation servo motors, 16×2 I2C LCD display (address 0x27), IR/obstacle sensor, and mechanical dispensing mechanism</a:t>
            </a: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develop a fully automated vending machine prototype.</a:t>
            </a:r>
            <a:endParaRPr lang="en-US" sz="8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current prototype successfully demonstrates </a:t>
            </a: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keypad-based servo selection and LCD feedback</a:t>
            </a: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validating the core hardware control layer of the system. The next development stage adds </a:t>
            </a: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IR sensor-based product confirmation and a 10-second timeout</a:t>
            </a: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detect dispensing failures and prevent indefinite motor operation, completing the closed-loop control system.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2662014"/>
            <a:ext cx="4783187" cy="17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22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Technical Achievements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6119" y="2952155"/>
            <a:ext cx="2342406" cy="789236"/>
          </a:xfrm>
          <a:prstGeom prst="roundRect">
            <a:avLst>
              <a:gd name="adj" fmla="val 5879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6074" y="3072110"/>
            <a:ext cx="2102495" cy="17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 Servos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6074" y="3349972"/>
            <a:ext cx="210249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360° continuous-rotation, independently controlled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36900" y="2952155"/>
            <a:ext cx="2342406" cy="789236"/>
          </a:xfrm>
          <a:prstGeom prst="roundRect">
            <a:avLst>
              <a:gd name="adj" fmla="val 5879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56855" y="3072110"/>
            <a:ext cx="2102495" cy="17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D3–D11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56855" y="3349972"/>
            <a:ext cx="210249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PWM pins for precise servo signal generation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6119" y="3839766"/>
            <a:ext cx="2342406" cy="789236"/>
          </a:xfrm>
          <a:prstGeom prst="roundRect">
            <a:avLst>
              <a:gd name="adj" fmla="val 5879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074" y="3959721"/>
            <a:ext cx="2102495" cy="17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0x27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6074" y="4237583"/>
            <a:ext cx="21024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I2C LCD address on A4/A5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36900" y="3839766"/>
            <a:ext cx="2342406" cy="789236"/>
          </a:xfrm>
          <a:prstGeom prst="roundRect">
            <a:avLst>
              <a:gd name="adj" fmla="val 5879"/>
            </a:avLst>
          </a:prstGeom>
          <a:solidFill>
            <a:srgbClr val="101620"/>
          </a:solidFill>
          <a:ln w="9525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56855" y="3959721"/>
            <a:ext cx="2102495" cy="17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 sec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56855" y="4237583"/>
            <a:ext cx="210249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Safety timeout for dispensing failure detection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74047" y="877267"/>
            <a:ext cx="3258071" cy="3895502"/>
          </a:xfrm>
          <a:prstGeom prst="roundRect">
            <a:avLst>
              <a:gd name="adj" fmla="val 2441"/>
            </a:avLst>
          </a:prstGeom>
          <a:solidFill>
            <a:srgbClr val="001F3F">
              <a:alpha val="9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584478" y="975643"/>
            <a:ext cx="3037210" cy="17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b="1" kern="0" spc="-22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Specifications at a Glance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84478" y="1265783"/>
            <a:ext cx="3037210" cy="2685157"/>
          </a:xfrm>
          <a:prstGeom prst="roundRect">
            <a:avLst>
              <a:gd name="adj" fmla="val 172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4478" y="1536204"/>
            <a:ext cx="3037210" cy="69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584478" y="1804243"/>
            <a:ext cx="3037210" cy="69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584478" y="2072283"/>
            <a:ext cx="3037210" cy="69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584478" y="2340322"/>
            <a:ext cx="3037210" cy="69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584478" y="2608362"/>
            <a:ext cx="3037210" cy="69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584478" y="2876401"/>
            <a:ext cx="3037210" cy="69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584478" y="3144441"/>
            <a:ext cx="3037210" cy="69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84478" y="3412480"/>
            <a:ext cx="3037210" cy="69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584478" y="3680520"/>
            <a:ext cx="3037210" cy="69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699745" y="1334319"/>
            <a:ext cx="19015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Microcontroller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364909" y="1334319"/>
            <a:ext cx="1598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Arduino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99745" y="1602358"/>
            <a:ext cx="19015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Slots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64909" y="1602358"/>
            <a:ext cx="1598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99745" y="1870397"/>
            <a:ext cx="19015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Type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64909" y="1870397"/>
            <a:ext cx="1598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360° Continuous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99745" y="2138437"/>
            <a:ext cx="19015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Servo Pins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364909" y="2138437"/>
            <a:ext cx="1598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D3,D5,D6,D9,D10,D11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99745" y="2406476"/>
            <a:ext cx="19015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Keypad Pins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64909" y="2406476"/>
            <a:ext cx="1598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D13,D12,D2,D8,D7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699745" y="2674516"/>
            <a:ext cx="19015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LCD Address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64909" y="2674516"/>
            <a:ext cx="1598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0x27 (A4/A5)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699745" y="2942555"/>
            <a:ext cx="19015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Rotate Command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364909" y="2942555"/>
            <a:ext cx="1598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servo.write(120)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99745" y="3210595"/>
            <a:ext cx="19015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Stop Command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64909" y="3210595"/>
            <a:ext cx="1598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servo.write(90)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699745" y="3478634"/>
            <a:ext cx="19015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Current Run Time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64909" y="3478634"/>
            <a:ext cx="1598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 seconds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699745" y="3746674"/>
            <a:ext cx="19015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Sensor Timeout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64909" y="3746674"/>
            <a:ext cx="1598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 seconds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750123" y="4159969"/>
            <a:ext cx="2871564" cy="17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b="1" kern="0" spc="-22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521523" y="4437831"/>
            <a:ext cx="33287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584478" y="4061594"/>
            <a:ext cx="14288" cy="600521"/>
          </a:xfrm>
          <a:prstGeom prst="roundRect">
            <a:avLst>
              <a:gd name="adj" fmla="val 49998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1979</Words>
  <Application>Microsoft Office PowerPoint</Application>
  <PresentationFormat>On-screen Show (16:9)</PresentationFormat>
  <Paragraphs>337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Geist Bold</vt:lpstr>
      <vt:lpstr>Geist</vt:lpstr>
      <vt:lpstr>Geist Light</vt:lpstr>
      <vt:lpstr>Twemoji Mozilla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MD Al Amin</cp:lastModifiedBy>
  <cp:revision>3</cp:revision>
  <dcterms:created xsi:type="dcterms:W3CDTF">2026-08-10T16:16:10Z</dcterms:created>
  <dcterms:modified xsi:type="dcterms:W3CDTF">2026-08-10T16:35:50Z</dcterms:modified>
</cp:coreProperties>
</file>